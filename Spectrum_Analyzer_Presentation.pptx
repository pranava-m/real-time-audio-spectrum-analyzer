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yourself and the project: a real-time audio spectrum analyzer built on the STM32F401 Black Pill using register-level CMSIS code in Keil uVision 5. Say it shows live frequency bars on a TFT and also streams the data to a phone over Bluetooth.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six parts quickly. About 1 minute.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the aim: a standalone spectrum analyzer with no PC needed. Four goals: capture, analyse, display, stream. All done at register level with CMSIS, no HAL.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four stages left to right. The key design idea: interrupts stay short, the main loop does the FFT and drawing.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Hold up or point to each part in the video. Add breadboard, jumpers, resistors (220 ohm for LEDs) and capacitors for supply decoupling.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schematic to explain each connection. Mic output to PA1; HC-05 on USART1; TFT on SPI1; buttons and LEDs on GPIOB.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Bandwidth is 8 kHz because fs = 16 kHz and Nyquist says the highest usable frequency is fs/2. Bin width = fs/N = 31.25 Hz. A block of 512 samples takes 32 ms to collect.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each step in one sentence. Mention that the peak frequency readout on the TFT uses parabolic interpolation so it is finer than the 31.25 Hz bin width.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NVIC priorities: ADC 1 (most urgent so no samples are lost), SysTick 2, USART1 3, EXTI 4. ISRs are kept very short.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out the bars, the peak line at the top, and the HZ axis labels under the bars. Redrawing only changed bars keeps the display smooth.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the HC-05 runs at 9600 baud. The phone sends single letters to control the analyzer and receives a spectrum report four times a second.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where you refer to the demo video. Play a tone or speak, show the bars react, press each button, and show the phone terminal.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quick reference slide. Useful if the examiner asks about bandwidth, resolution or sampling.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the simple conclusion: the system captures, analyses and displays audio spectra in real time, and the design keeps interrupts short. Then mention the future scope.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the audience and invite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jpg"/><Relationship Id="rId3" Type="http://schemas.openxmlformats.org/officeDocument/2006/relationships/image" Target="../media/image-5-3.jpg"/><Relationship Id="rId4" Type="http://schemas.openxmlformats.org/officeDocument/2006/relationships/image" Target="../media/image-5-4.jpg"/><Relationship Id="rId5" Type="http://schemas.openxmlformats.org/officeDocument/2006/relationships/image" Target="../media/image-5-5.jpg"/><Relationship Id="rId6" Type="http://schemas.openxmlformats.org/officeDocument/2006/relationships/image" Target="../media/image-5-6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image" Target="../media/image-12-2.jpg"/><Relationship Id="rId3" Type="http://schemas.openxmlformats.org/officeDocument/2006/relationships/image" Target="../media/image-12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8229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C45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SYSTEMS  ·  CASE STUDY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80160"/>
            <a:ext cx="6400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3A3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Audio</a:t>
            </a:r>
            <a:endParaRPr lang="en-US" sz="4600" dirty="0"/>
          </a:p>
          <a:p>
            <a:pPr indent="0" marL="0">
              <a:buNone/>
            </a:pPr>
            <a:r>
              <a:rPr lang="en-US" sz="4600" b="1" dirty="0">
                <a:solidFill>
                  <a:srgbClr val="3A3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Spectrum Analyzer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33756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512-point FFT on an STM32F401 Black Pill, shown live on a TFT and streamed to a phone over Bluetooth.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4343400"/>
            <a:ext cx="1184148" cy="384048"/>
          </a:xfrm>
          <a:prstGeom prst="roundRect">
            <a:avLst>
              <a:gd name="adj" fmla="val 47619"/>
            </a:avLst>
          </a:prstGeom>
          <a:solidFill>
            <a:srgbClr val="C4573A"/>
          </a:solidFill>
          <a:ln w="12700">
            <a:solidFill>
              <a:srgbClr val="C4573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4343400"/>
            <a:ext cx="11841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STM32F401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988820" y="4343400"/>
            <a:ext cx="1664208" cy="384048"/>
          </a:xfrm>
          <a:prstGeom prst="roundRect">
            <a:avLst>
              <a:gd name="adj" fmla="val 47619"/>
            </a:avLst>
          </a:prstGeom>
          <a:solidFill>
            <a:srgbClr val="4F7A63"/>
          </a:solidFill>
          <a:ln w="12700">
            <a:solidFill>
              <a:srgbClr val="4F7A6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988820" y="4343400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Keil uVision 5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17620" y="4343400"/>
            <a:ext cx="1664208" cy="384048"/>
          </a:xfrm>
          <a:prstGeom prst="roundRect">
            <a:avLst>
              <a:gd name="adj" fmla="val 47619"/>
            </a:avLst>
          </a:prstGeom>
          <a:solidFill>
            <a:srgbClr val="A8735A"/>
          </a:solidFill>
          <a:ln w="12700">
            <a:solidFill>
              <a:srgbClr val="A8735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817620" y="4343400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CMSIS · no HAL</a:t>
            </a:r>
            <a:endParaRPr lang="en-US" sz="1300" dirty="0"/>
          </a:p>
        </p:txBody>
      </p:sp>
      <p:sp>
        <p:nvSpPr>
          <p:cNvPr id="11" name="Team card"/>
          <p:cNvSpPr/>
          <p:nvPr/>
        </p:nvSpPr>
        <p:spPr>
          <a:xfrm>
            <a:off x="640080" y="4937760"/>
            <a:ext cx="60350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8E0D6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68680" y="5029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45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68680" y="534924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 Harshith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CB.SC.U4CSE24721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794760" y="534924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Jason Richards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CB.SC.U4CSE24722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580644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Pranav Machireddy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CB.SC.U4CSE24730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794760" y="580644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Rajeev Lochan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CB.SC.U4CSE24731</a:t>
            </a:r>
            <a:endParaRPr lang="en-US" sz="1400" dirty="0"/>
          </a:p>
        </p:txBody>
      </p:sp>
      <p:sp>
        <p:nvSpPr>
          <p:cNvPr id="17" name="Project setup photo frame"/>
          <p:cNvSpPr/>
          <p:nvPr/>
        </p:nvSpPr>
        <p:spPr>
          <a:xfrm>
            <a:off x="7333488" y="841248"/>
            <a:ext cx="4261104" cy="3529584"/>
          </a:xfrm>
          <a:prstGeom prst="roundRect">
            <a:avLst>
              <a:gd name="adj" fmla="val 3109"/>
            </a:avLst>
          </a:prstGeom>
          <a:solidFill>
            <a:srgbClr val="FFFFFF"/>
          </a:solidFill>
          <a:ln w="9525">
            <a:solidFill>
              <a:srgbClr val="E8E0D6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pic>
        <p:nvPicPr>
          <p:cNvPr id="18" name="Project setup photo" descr="Project setup phot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0" y="914400"/>
            <a:ext cx="4114800" cy="33832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AUDIO SPECTRUM ANALYZER  ·  STM32F401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241280" y="641908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15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45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3A3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presentation covers</a:t>
            </a:r>
            <a:endParaRPr lang="en-US" sz="3200" dirty="0"/>
          </a:p>
        </p:txBody>
      </p:sp>
      <p:sp>
        <p:nvSpPr>
          <p:cNvPr id="6" name="Contents card 1"/>
          <p:cNvSpPr/>
          <p:nvPr/>
        </p:nvSpPr>
        <p:spPr>
          <a:xfrm>
            <a:off x="548640" y="1783080"/>
            <a:ext cx="35204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0D6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2057400"/>
            <a:ext cx="548640" cy="548640"/>
          </a:xfrm>
          <a:prstGeom prst="ellipse">
            <a:avLst/>
          </a:prstGeom>
          <a:solidFill>
            <a:srgbClr val="C4573A"/>
          </a:solidFill>
          <a:ln w="12700">
            <a:solidFill>
              <a:srgbClr val="C4573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554480" y="20574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A3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Aim &amp; idea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7889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and what the system does</a:t>
            </a:r>
            <a:endParaRPr lang="en-US" sz="1500" dirty="0"/>
          </a:p>
        </p:txBody>
      </p:sp>
      <p:sp>
        <p:nvSpPr>
          <p:cNvPr id="11" name="Contents card 2"/>
          <p:cNvSpPr/>
          <p:nvPr/>
        </p:nvSpPr>
        <p:spPr>
          <a:xfrm>
            <a:off x="4297680" y="1783080"/>
            <a:ext cx="35204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0D6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0" y="2057400"/>
            <a:ext cx="548640" cy="548640"/>
          </a:xfrm>
          <a:prstGeom prst="ellipse">
            <a:avLst/>
          </a:prstGeom>
          <a:solidFill>
            <a:srgbClr val="4F7A63"/>
          </a:solidFill>
          <a:ln w="12700">
            <a:solidFill>
              <a:srgbClr val="4F7A6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5303520" y="20574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A3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Hardware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0" y="27889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Parts used and why each one is needed</a:t>
            </a:r>
            <a:endParaRPr lang="en-US" sz="1500" dirty="0"/>
          </a:p>
        </p:txBody>
      </p:sp>
      <p:sp>
        <p:nvSpPr>
          <p:cNvPr id="16" name="Contents card 3"/>
          <p:cNvSpPr/>
          <p:nvPr/>
        </p:nvSpPr>
        <p:spPr>
          <a:xfrm>
            <a:off x="8046720" y="1783080"/>
            <a:ext cx="35204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0D6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21040" y="2057400"/>
            <a:ext cx="548640" cy="548640"/>
          </a:xfrm>
          <a:prstGeom prst="ellipse">
            <a:avLst/>
          </a:prstGeom>
          <a:solidFill>
            <a:srgbClr val="A8735A"/>
          </a:solidFill>
          <a:ln w="12700">
            <a:solidFill>
              <a:srgbClr val="A8735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32104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9052560" y="205740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A3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Circuit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8321040" y="27889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everything is wired to the board</a:t>
            </a:r>
            <a:endParaRPr lang="en-US" sz="1500" dirty="0"/>
          </a:p>
        </p:txBody>
      </p:sp>
      <p:sp>
        <p:nvSpPr>
          <p:cNvPr id="21" name="Contents card 4"/>
          <p:cNvSpPr/>
          <p:nvPr/>
        </p:nvSpPr>
        <p:spPr>
          <a:xfrm>
            <a:off x="548640" y="3886200"/>
            <a:ext cx="35204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0D6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22960" y="4160520"/>
            <a:ext cx="548640" cy="548640"/>
          </a:xfrm>
          <a:prstGeom prst="ellipse">
            <a:avLst/>
          </a:prstGeom>
          <a:solidFill>
            <a:srgbClr val="C4573A"/>
          </a:solidFill>
          <a:ln w="12700">
            <a:solidFill>
              <a:srgbClr val="C4573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22960" y="4160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1554480" y="41605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A3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Signal chain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822960" y="48920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Sampling, window, FFT and log bars</a:t>
            </a:r>
            <a:endParaRPr lang="en-US" sz="1500" dirty="0"/>
          </a:p>
        </p:txBody>
      </p:sp>
      <p:sp>
        <p:nvSpPr>
          <p:cNvPr id="26" name="Contents card 5"/>
          <p:cNvSpPr/>
          <p:nvPr/>
        </p:nvSpPr>
        <p:spPr>
          <a:xfrm>
            <a:off x="4297680" y="3886200"/>
            <a:ext cx="35204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0D6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0" y="4160520"/>
            <a:ext cx="548640" cy="548640"/>
          </a:xfrm>
          <a:prstGeom prst="ellipse">
            <a:avLst/>
          </a:prstGeom>
          <a:solidFill>
            <a:srgbClr val="4F7A63"/>
          </a:solidFill>
          <a:ln w="12700">
            <a:solidFill>
              <a:srgbClr val="4F7A6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572000" y="4160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5303520" y="41605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A3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Firmware</a:t>
            </a:r>
            <a:endParaRPr lang="en-US" sz="2000" dirty="0"/>
          </a:p>
        </p:txBody>
      </p:sp>
      <p:sp>
        <p:nvSpPr>
          <p:cNvPr id="30" name="Text 28"/>
          <p:cNvSpPr txBox="1"/>
          <p:nvPr/>
        </p:nvSpPr>
        <p:spPr>
          <a:xfrm>
            <a:off x="4572000" y="48920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Interrupts, UI, TFT and Bluetooth</a:t>
            </a:r>
            <a:endParaRPr lang="en-US" sz="1500" dirty="0"/>
          </a:p>
        </p:txBody>
      </p:sp>
      <p:sp>
        <p:nvSpPr>
          <p:cNvPr id="31" name="Contents card 6"/>
          <p:cNvSpPr/>
          <p:nvPr/>
        </p:nvSpPr>
        <p:spPr>
          <a:xfrm>
            <a:off x="8046720" y="3886200"/>
            <a:ext cx="35204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8E0D6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321040" y="4160520"/>
            <a:ext cx="548640" cy="548640"/>
          </a:xfrm>
          <a:prstGeom prst="ellipse">
            <a:avLst/>
          </a:prstGeom>
          <a:solidFill>
            <a:srgbClr val="A8735A"/>
          </a:solidFill>
          <a:ln w="12700">
            <a:solidFill>
              <a:srgbClr val="A8735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321040" y="4160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9052560" y="41605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A3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</a:t>
            </a:r>
            <a:endParaRPr lang="en-US" sz="2000" dirty="0"/>
          </a:p>
        </p:txBody>
      </p:sp>
      <p:sp>
        <p:nvSpPr>
          <p:cNvPr id="35" name="Text 33"/>
          <p:cNvSpPr txBox="1"/>
          <p:nvPr/>
        </p:nvSpPr>
        <p:spPr>
          <a:xfrm>
            <a:off x="8321040" y="48920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demo, specs, conclusion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AUDIO SPECTRUM ANALYZER  ·  STM32F401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241280" y="641908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15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45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 &amp; IDEA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3A3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Make sound visible, in real time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0020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A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microphone picks up sound. The microcontroller samples it, finds which frequencies are present and how strong they are, and draws them as moving bars.</a:t>
            </a:r>
            <a:endParaRPr lang="en-US" sz="1700" dirty="0"/>
          </a:p>
        </p:txBody>
      </p:sp>
      <p:sp>
        <p:nvSpPr>
          <p:cNvPr id="7" name="Setup photo frame"/>
          <p:cNvSpPr/>
          <p:nvPr/>
        </p:nvSpPr>
        <p:spPr>
          <a:xfrm>
            <a:off x="566928" y="3127248"/>
            <a:ext cx="3803904" cy="2819596"/>
          </a:xfrm>
          <a:prstGeom prst="roundRect">
            <a:avLst>
              <a:gd name="adj" fmla="val 3892"/>
            </a:avLst>
          </a:prstGeom>
          <a:solidFill>
            <a:srgbClr val="FFFFFF"/>
          </a:solidFill>
          <a:ln w="9525">
            <a:solidFill>
              <a:srgbClr val="E8E0D6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pic>
        <p:nvPicPr>
          <p:cNvPr id="8" name="Setup photo" descr="Setup phot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200400"/>
            <a:ext cx="3657600" cy="2673292"/>
          </a:xfrm>
          <a:prstGeom prst="rect">
            <a:avLst/>
          </a:prstGeom>
        </p:spPr>
      </p:pic>
      <p:sp>
        <p:nvSpPr>
          <p:cNvPr id="9" name="Aim card 1"/>
          <p:cNvSpPr/>
          <p:nvPr/>
        </p:nvSpPr>
        <p:spPr>
          <a:xfrm>
            <a:off x="6126480" y="1600200"/>
            <a:ext cx="5513832" cy="950976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E8E0D6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327648" y="1801368"/>
            <a:ext cx="548640" cy="548640"/>
          </a:xfrm>
          <a:prstGeom prst="ellipse">
            <a:avLst/>
          </a:prstGeom>
          <a:solidFill>
            <a:srgbClr val="C4573A"/>
          </a:solidFill>
          <a:ln w="12700">
            <a:solidFill>
              <a:srgbClr val="C4573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327648" y="18013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7086600" y="1645920"/>
            <a:ext cx="44348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A3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Capture</a:t>
            </a:r>
            <a:endParaRPr lang="en-US" sz="1700" dirty="0"/>
          </a:p>
          <a:p>
            <a:pPr indent="0" marL="0">
              <a:buNone/>
            </a:pPr>
            <a:r>
              <a:rPr lang="en-US" sz="135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audio at a steady 16 kHz using a timer-triggered ADC.</a:t>
            </a:r>
            <a:endParaRPr lang="en-US" sz="1700" dirty="0"/>
          </a:p>
        </p:txBody>
      </p:sp>
      <p:sp>
        <p:nvSpPr>
          <p:cNvPr id="13" name="Aim card 2"/>
          <p:cNvSpPr/>
          <p:nvPr/>
        </p:nvSpPr>
        <p:spPr>
          <a:xfrm>
            <a:off x="6126480" y="2679192"/>
            <a:ext cx="5513832" cy="950976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E8E0D6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327648" y="2880360"/>
            <a:ext cx="548640" cy="548640"/>
          </a:xfrm>
          <a:prstGeom prst="ellipse">
            <a:avLst/>
          </a:prstGeom>
          <a:solidFill>
            <a:srgbClr val="4F7A63"/>
          </a:solidFill>
          <a:ln w="12700">
            <a:solidFill>
              <a:srgbClr val="4F7A6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327648" y="2880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7086600" y="2724912"/>
            <a:ext cx="44348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A3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Analyse</a:t>
            </a:r>
            <a:endParaRPr lang="en-US" sz="1700" dirty="0"/>
          </a:p>
          <a:p>
            <a:pPr indent="0" marL="0">
              <a:buNone/>
            </a:pPr>
            <a:r>
              <a:rPr lang="en-US" sz="135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time samples to a frequency spectrum with a 512-point FFT.</a:t>
            </a:r>
            <a:endParaRPr lang="en-US" sz="1700" dirty="0"/>
          </a:p>
        </p:txBody>
      </p:sp>
      <p:sp>
        <p:nvSpPr>
          <p:cNvPr id="17" name="Aim card 3"/>
          <p:cNvSpPr/>
          <p:nvPr/>
        </p:nvSpPr>
        <p:spPr>
          <a:xfrm>
            <a:off x="6126480" y="3758184"/>
            <a:ext cx="5513832" cy="950976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E8E0D6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327648" y="3959352"/>
            <a:ext cx="548640" cy="548640"/>
          </a:xfrm>
          <a:prstGeom prst="ellipse">
            <a:avLst/>
          </a:prstGeom>
          <a:solidFill>
            <a:srgbClr val="A8735A"/>
          </a:solidFill>
          <a:ln w="12700">
            <a:solidFill>
              <a:srgbClr val="A8735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327648" y="39593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7086600" y="3803904"/>
            <a:ext cx="44348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A3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Display</a:t>
            </a:r>
            <a:endParaRPr lang="en-US" sz="1700" dirty="0"/>
          </a:p>
          <a:p>
            <a:pPr indent="0" marL="0">
              <a:buNone/>
            </a:pPr>
            <a:r>
              <a:rPr lang="en-US" sz="135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32 log-spaced bars on the TFT with peak frequency and level.</a:t>
            </a:r>
            <a:endParaRPr lang="en-US" sz="1700" dirty="0"/>
          </a:p>
        </p:txBody>
      </p:sp>
      <p:sp>
        <p:nvSpPr>
          <p:cNvPr id="21" name="Aim card 4"/>
          <p:cNvSpPr/>
          <p:nvPr/>
        </p:nvSpPr>
        <p:spPr>
          <a:xfrm>
            <a:off x="6126480" y="4837176"/>
            <a:ext cx="5513832" cy="950976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E8E0D6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327648" y="5038344"/>
            <a:ext cx="548640" cy="548640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327648" y="503834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7086600" y="4882896"/>
            <a:ext cx="44348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A3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</a:t>
            </a:r>
            <a:endParaRPr lang="en-US" sz="1700" dirty="0"/>
          </a:p>
          <a:p>
            <a:pPr indent="0" marL="0">
              <a:buNone/>
            </a:pPr>
            <a:r>
              <a:rPr lang="en-US" sz="135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the same data to a phone through an HC-05 Bluetooth module.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AUDIO SPECTRUM ANALYZER  ·  STM32F401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241280" y="641908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15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45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OVERVIEW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3A3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sound wave to pixels</a:t>
            </a:r>
            <a:endParaRPr lang="en-US" sz="3200" dirty="0"/>
          </a:p>
        </p:txBody>
      </p:sp>
      <p:sp>
        <p:nvSpPr>
          <p:cNvPr id="6" name="Stage card 1"/>
          <p:cNvSpPr/>
          <p:nvPr/>
        </p:nvSpPr>
        <p:spPr>
          <a:xfrm>
            <a:off x="548640" y="1828800"/>
            <a:ext cx="251460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E8E0D6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2057400"/>
            <a:ext cx="502920" cy="502920"/>
          </a:xfrm>
          <a:prstGeom prst="ellipse">
            <a:avLst/>
          </a:prstGeom>
          <a:solidFill>
            <a:srgbClr val="C4573A"/>
          </a:solidFill>
          <a:ln w="12700">
            <a:solidFill>
              <a:srgbClr val="C4573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69748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A3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MAX4466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31546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45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Microphone amplifier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352044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 audio on PA1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063240" y="2697480"/>
            <a:ext cx="338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45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3" name="Stage card 2"/>
          <p:cNvSpPr/>
          <p:nvPr/>
        </p:nvSpPr>
        <p:spPr>
          <a:xfrm>
            <a:off x="3401568" y="1828800"/>
            <a:ext cx="251460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E8E0D6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30168" y="2057400"/>
            <a:ext cx="502920" cy="502920"/>
          </a:xfrm>
          <a:prstGeom prst="ellipse">
            <a:avLst/>
          </a:prstGeom>
          <a:solidFill>
            <a:srgbClr val="4F7A63"/>
          </a:solidFill>
          <a:ln w="12700">
            <a:solidFill>
              <a:srgbClr val="4F7A6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630168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3630168" y="269748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A3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TIM2 + ADC1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3630168" y="31546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7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kHz sampling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3630168" y="352044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12-bit, timer triggered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916168" y="2697480"/>
            <a:ext cx="338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45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20" name="Stage card 3"/>
          <p:cNvSpPr/>
          <p:nvPr/>
        </p:nvSpPr>
        <p:spPr>
          <a:xfrm>
            <a:off x="6254496" y="1828800"/>
            <a:ext cx="251460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E8E0D6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83096" y="2057400"/>
            <a:ext cx="502920" cy="502920"/>
          </a:xfrm>
          <a:prstGeom prst="ellipse">
            <a:avLst/>
          </a:prstGeom>
          <a:solidFill>
            <a:srgbClr val="A8735A"/>
          </a:solidFill>
          <a:ln w="12700">
            <a:solidFill>
              <a:srgbClr val="A8735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83096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483096" y="269748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A3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FFT engine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6483096" y="31546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87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 points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6483096" y="352044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→ FFT → bars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8769096" y="2697480"/>
            <a:ext cx="338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45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27" name="Stage card 4"/>
          <p:cNvSpPr/>
          <p:nvPr/>
        </p:nvSpPr>
        <p:spPr>
          <a:xfrm>
            <a:off x="9107424" y="1828800"/>
            <a:ext cx="251460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E8E0D6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9336024" y="2057400"/>
            <a:ext cx="502920" cy="502920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336024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9336024" y="269748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A3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Outputs</a:t>
            </a:r>
            <a:endParaRPr lang="en-US" sz="2000" dirty="0"/>
          </a:p>
        </p:txBody>
      </p:sp>
      <p:sp>
        <p:nvSpPr>
          <p:cNvPr id="31" name="Text 29"/>
          <p:cNvSpPr txBox="1"/>
          <p:nvPr/>
        </p:nvSpPr>
        <p:spPr>
          <a:xfrm>
            <a:off x="9336024" y="31546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A6F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TFT  +  Bluetooth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9336024" y="352044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SPI1 and USART1</a:t>
            </a:r>
            <a:endParaRPr lang="en-US" sz="1400" dirty="0"/>
          </a:p>
        </p:txBody>
      </p:sp>
      <p:sp>
        <p:nvSpPr>
          <p:cNvPr id="33" name="Stat card 1"/>
          <p:cNvSpPr/>
          <p:nvPr/>
        </p:nvSpPr>
        <p:spPr>
          <a:xfrm>
            <a:off x="548640" y="4526280"/>
            <a:ext cx="352044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E8E0D6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 txBox="1"/>
          <p:nvPr/>
        </p:nvSpPr>
        <p:spPr>
          <a:xfrm>
            <a:off x="777240" y="4526280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45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31.25 Hz</a:t>
            </a:r>
            <a:endParaRPr lang="en-US" sz="2400" dirty="0"/>
          </a:p>
        </p:txBody>
      </p:sp>
      <p:sp>
        <p:nvSpPr>
          <p:cNvPr id="35" name="Text 33"/>
          <p:cNvSpPr txBox="1"/>
          <p:nvPr/>
        </p:nvSpPr>
        <p:spPr>
          <a:xfrm>
            <a:off x="2468880" y="4526280"/>
            <a:ext cx="1463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resolution</a:t>
            </a:r>
            <a:endParaRPr lang="en-US" sz="1350" dirty="0"/>
          </a:p>
        </p:txBody>
      </p:sp>
      <p:sp>
        <p:nvSpPr>
          <p:cNvPr id="36" name="Stat card 2"/>
          <p:cNvSpPr/>
          <p:nvPr/>
        </p:nvSpPr>
        <p:spPr>
          <a:xfrm>
            <a:off x="4297680" y="4526280"/>
            <a:ext cx="352044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E8E0D6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 txBox="1"/>
          <p:nvPr/>
        </p:nvSpPr>
        <p:spPr>
          <a:xfrm>
            <a:off x="4526280" y="4526280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45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 ms</a:t>
            </a:r>
            <a:endParaRPr lang="en-US" sz="2400" dirty="0"/>
          </a:p>
        </p:txBody>
      </p:sp>
      <p:sp>
        <p:nvSpPr>
          <p:cNvPr id="38" name="Text 36"/>
          <p:cNvSpPr txBox="1"/>
          <p:nvPr/>
        </p:nvSpPr>
        <p:spPr>
          <a:xfrm>
            <a:off x="6217920" y="4526280"/>
            <a:ext cx="1463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512-sample block</a:t>
            </a:r>
            <a:endParaRPr lang="en-US" sz="1350" dirty="0"/>
          </a:p>
        </p:txBody>
      </p:sp>
      <p:sp>
        <p:nvSpPr>
          <p:cNvPr id="39" name="Stat card 3"/>
          <p:cNvSpPr/>
          <p:nvPr/>
        </p:nvSpPr>
        <p:spPr>
          <a:xfrm>
            <a:off x="8046720" y="4526280"/>
            <a:ext cx="352044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E8E0D6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40" name="Text 38"/>
          <p:cNvSpPr txBox="1"/>
          <p:nvPr/>
        </p:nvSpPr>
        <p:spPr>
          <a:xfrm>
            <a:off x="8275320" y="4526280"/>
            <a:ext cx="1737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45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30 fps</a:t>
            </a:r>
            <a:endParaRPr lang="en-US" sz="2400" dirty="0"/>
          </a:p>
        </p:txBody>
      </p:sp>
      <p:sp>
        <p:nvSpPr>
          <p:cNvPr id="41" name="Text 39"/>
          <p:cNvSpPr txBox="1"/>
          <p:nvPr/>
        </p:nvSpPr>
        <p:spPr>
          <a:xfrm>
            <a:off x="9966960" y="4526280"/>
            <a:ext cx="1463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refresh target</a:t>
            </a:r>
            <a:endParaRPr lang="en-US" sz="1350" dirty="0"/>
          </a:p>
        </p:txBody>
      </p:sp>
      <p:sp>
        <p:nvSpPr>
          <p:cNvPr id="42" name="Callout"/>
          <p:cNvSpPr/>
          <p:nvPr/>
        </p:nvSpPr>
        <p:spPr>
          <a:xfrm>
            <a:off x="548640" y="5669280"/>
            <a:ext cx="11091672" cy="502920"/>
          </a:xfrm>
          <a:prstGeom prst="roundRect">
            <a:avLst>
              <a:gd name="adj" fmla="val 18182"/>
            </a:avLst>
          </a:prstGeom>
          <a:solidFill>
            <a:srgbClr val="F3E3DC"/>
          </a:solidFill>
          <a:ln w="9525">
            <a:solidFill>
              <a:srgbClr val="C4573A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777240" y="566928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flow:  the ADC interrupt only collects samples; all heavy maths runs in the main loop.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AUDIO SPECTRUM ANALYZER  ·  STM32F401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241280" y="641908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15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45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3A3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Parts used and why</a:t>
            </a:r>
            <a:endParaRPr lang="en-US" sz="3200" dirty="0"/>
          </a:p>
        </p:txBody>
      </p:sp>
      <p:sp>
        <p:nvSpPr>
          <p:cNvPr id="6" name="Part card 1"/>
          <p:cNvSpPr/>
          <p:nvPr/>
        </p:nvSpPr>
        <p:spPr>
          <a:xfrm>
            <a:off x="548640" y="1554480"/>
            <a:ext cx="3520440" cy="2212848"/>
          </a:xfrm>
          <a:prstGeom prst="roundRect">
            <a:avLst>
              <a:gd name="adj" fmla="val 4959"/>
            </a:avLst>
          </a:prstGeom>
          <a:solidFill>
            <a:srgbClr val="FFFFFF"/>
          </a:solidFill>
          <a:ln w="9525">
            <a:solidFill>
              <a:srgbClr val="E8E0D6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pic>
        <p:nvPicPr>
          <p:cNvPr id="7" name="STM32F401 Black Pill photo" descr="STM32F401 Black Pil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737360"/>
            <a:ext cx="1828800" cy="18288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2651760" y="1691640"/>
            <a:ext cx="1325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50" b="1" dirty="0">
                <a:solidFill>
                  <a:srgbClr val="3A3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STM32F401 Black Pill</a:t>
            </a:r>
            <a:endParaRPr lang="en-US" sz="15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 MHz Cortex-M4F with FPU; fast enough for a real-time FFT.</a:t>
            </a:r>
            <a:endParaRPr lang="en-US" sz="1550" dirty="0"/>
          </a:p>
        </p:txBody>
      </p:sp>
      <p:sp>
        <p:nvSpPr>
          <p:cNvPr id="9" name="Part card 2"/>
          <p:cNvSpPr/>
          <p:nvPr/>
        </p:nvSpPr>
        <p:spPr>
          <a:xfrm>
            <a:off x="4297680" y="1554480"/>
            <a:ext cx="3520440" cy="2212848"/>
          </a:xfrm>
          <a:prstGeom prst="roundRect">
            <a:avLst>
              <a:gd name="adj" fmla="val 4959"/>
            </a:avLst>
          </a:prstGeom>
          <a:solidFill>
            <a:srgbClr val="FFFFFF"/>
          </a:solidFill>
          <a:ln w="9525">
            <a:solidFill>
              <a:srgbClr val="E8E0D6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pic>
        <p:nvPicPr>
          <p:cNvPr id="10" name="MAX4466 microphone photo" descr="MAX4466 microphon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1737360"/>
            <a:ext cx="1828800" cy="18288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400800" y="1691640"/>
            <a:ext cx="1325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50" b="1" dirty="0">
                <a:solidFill>
                  <a:srgbClr val="3A3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MAX4466 microphone</a:t>
            </a:r>
            <a:endParaRPr lang="en-US" sz="15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Adjustable-gain amplifier gives a clean analog signal to the ADC.</a:t>
            </a:r>
            <a:endParaRPr lang="en-US" sz="1550" dirty="0"/>
          </a:p>
        </p:txBody>
      </p:sp>
      <p:sp>
        <p:nvSpPr>
          <p:cNvPr id="12" name="Part card 3"/>
          <p:cNvSpPr/>
          <p:nvPr/>
        </p:nvSpPr>
        <p:spPr>
          <a:xfrm>
            <a:off x="8046720" y="1554480"/>
            <a:ext cx="3520440" cy="2212848"/>
          </a:xfrm>
          <a:prstGeom prst="roundRect">
            <a:avLst>
              <a:gd name="adj" fmla="val 4959"/>
            </a:avLst>
          </a:prstGeom>
          <a:solidFill>
            <a:srgbClr val="FFFFFF"/>
          </a:solidFill>
          <a:ln w="9525">
            <a:solidFill>
              <a:srgbClr val="E8E0D6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pic>
        <p:nvPicPr>
          <p:cNvPr id="13" name="ILI9341 TFT (SPI) photo" descr="ILI9341 TFT (SPI)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1737360"/>
            <a:ext cx="1828800" cy="18288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0149840" y="1691640"/>
            <a:ext cx="1325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50" b="1" dirty="0">
                <a:solidFill>
                  <a:srgbClr val="3A3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ILI9341 TFT (SPI)</a:t>
            </a:r>
            <a:endParaRPr lang="en-US" sz="15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320×240 colour display for the live bars and readouts.</a:t>
            </a:r>
            <a:endParaRPr lang="en-US" sz="1550" dirty="0"/>
          </a:p>
        </p:txBody>
      </p:sp>
      <p:sp>
        <p:nvSpPr>
          <p:cNvPr id="15" name="Part card 4"/>
          <p:cNvSpPr/>
          <p:nvPr/>
        </p:nvSpPr>
        <p:spPr>
          <a:xfrm>
            <a:off x="548640" y="3950208"/>
            <a:ext cx="3520440" cy="2212848"/>
          </a:xfrm>
          <a:prstGeom prst="roundRect">
            <a:avLst>
              <a:gd name="adj" fmla="val 4959"/>
            </a:avLst>
          </a:prstGeom>
          <a:solidFill>
            <a:srgbClr val="FFFFFF"/>
          </a:solidFill>
          <a:ln w="9525">
            <a:solidFill>
              <a:srgbClr val="E8E0D6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pic>
        <p:nvPicPr>
          <p:cNvPr id="16" name="HC-05 Bluetooth photo" descr="HC-05 Bluetooth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133088"/>
            <a:ext cx="1828800" cy="182880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2651760" y="4087368"/>
            <a:ext cx="1325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50" b="1" dirty="0">
                <a:solidFill>
                  <a:srgbClr val="3A3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HC-05 Bluetooth</a:t>
            </a:r>
            <a:endParaRPr lang="en-US" sz="15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 link to a phone terminal at 9600 baud.</a:t>
            </a:r>
            <a:endParaRPr lang="en-US" sz="1550" dirty="0"/>
          </a:p>
        </p:txBody>
      </p:sp>
      <p:sp>
        <p:nvSpPr>
          <p:cNvPr id="18" name="Part card 5"/>
          <p:cNvSpPr/>
          <p:nvPr/>
        </p:nvSpPr>
        <p:spPr>
          <a:xfrm>
            <a:off x="4297680" y="3950208"/>
            <a:ext cx="3520440" cy="2212848"/>
          </a:xfrm>
          <a:prstGeom prst="roundRect">
            <a:avLst>
              <a:gd name="adj" fmla="val 4959"/>
            </a:avLst>
          </a:prstGeom>
          <a:solidFill>
            <a:srgbClr val="FFFFFF"/>
          </a:solidFill>
          <a:ln w="9525">
            <a:solidFill>
              <a:srgbClr val="E8E0D6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pic>
        <p:nvPicPr>
          <p:cNvPr id="19" name="Buttons + 3 LEDs photo" descr="Buttons + 3 LEDs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80560" y="4133088"/>
            <a:ext cx="1828800" cy="1828800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6400800" y="4087368"/>
            <a:ext cx="1325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50" b="1" dirty="0">
                <a:solidFill>
                  <a:srgbClr val="3A3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Buttons + 3 LEDs</a:t>
            </a:r>
            <a:endParaRPr lang="en-US" sz="15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Mode, pause and grid control; red, green and blue status LEDs.</a:t>
            </a:r>
            <a:endParaRPr lang="en-US" sz="1550" dirty="0"/>
          </a:p>
        </p:txBody>
      </p:sp>
      <p:sp>
        <p:nvSpPr>
          <p:cNvPr id="21" name="Part card 6"/>
          <p:cNvSpPr/>
          <p:nvPr/>
        </p:nvSpPr>
        <p:spPr>
          <a:xfrm>
            <a:off x="8046720" y="3950208"/>
            <a:ext cx="3520440" cy="2212848"/>
          </a:xfrm>
          <a:prstGeom prst="roundRect">
            <a:avLst>
              <a:gd name="adj" fmla="val 4959"/>
            </a:avLst>
          </a:prstGeom>
          <a:solidFill>
            <a:srgbClr val="FFFFFF"/>
          </a:solidFill>
          <a:ln w="9525">
            <a:solidFill>
              <a:srgbClr val="E8E0D6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pic>
        <p:nvPicPr>
          <p:cNvPr id="22" name="ST-Link V2 photo" descr="ST-Link V2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0" y="4133088"/>
            <a:ext cx="1828800" cy="1828800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10149840" y="4087368"/>
            <a:ext cx="1325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50" b="1" dirty="0">
                <a:solidFill>
                  <a:srgbClr val="3A3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ST-Link V2</a:t>
            </a:r>
            <a:endParaRPr lang="en-US" sz="15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5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Flashes and debugs the firmware from Keil uVision.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AUDIO SPECTRUM ANALYZER  ·  STM32F401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241280" y="641908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15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45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3A3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everything connects</a:t>
            </a:r>
            <a:endParaRPr lang="en-US" sz="3200" dirty="0"/>
          </a:p>
        </p:txBody>
      </p:sp>
      <p:sp>
        <p:nvSpPr>
          <p:cNvPr id="6" name="Schematic card"/>
          <p:cNvSpPr/>
          <p:nvPr/>
        </p:nvSpPr>
        <p:spPr>
          <a:xfrm>
            <a:off x="548640" y="1554480"/>
            <a:ext cx="6949440" cy="4709160"/>
          </a:xfrm>
          <a:prstGeom prst="roundRect">
            <a:avLst>
              <a:gd name="adj" fmla="val 2330"/>
            </a:avLst>
          </a:prstGeom>
          <a:solidFill>
            <a:srgbClr val="FFFFFF"/>
          </a:solidFill>
          <a:ln w="9525">
            <a:solidFill>
              <a:srgbClr val="E8E0D6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pic>
        <p:nvPicPr>
          <p:cNvPr id="7" name="Circuit schematic" descr="Circuit schematic of the spectrum analyz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651299"/>
            <a:ext cx="6675120" cy="4515522"/>
          </a:xfrm>
          <a:prstGeom prst="rect">
            <a:avLst/>
          </a:prstGeom>
        </p:spPr>
      </p:pic>
      <p:graphicFrame>
        <p:nvGraphicFramePr>
          <p:cNvPr id="7" name="Pi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26680" y="1554480"/>
          <a:ext cx="3913632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1417320"/>
                <a:gridCol w="135331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A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A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Used for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A4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A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 OUT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PA1 (ADC1 ch1)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Audio input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A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TFT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SPI1 @ 10.5 MHz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Display data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A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HC-05 TX / RX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PA10 / PA9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USART1, 9600 baud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A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Buttons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PB12 · PB13 · PB14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 · pause · grid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A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LEDs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PB7 · PB8 · PB9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 · green · blue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3A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On-board LED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PC13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3A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 = paused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0" marB="0" anchor="ctr">
                    <a:lnL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1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7726680" y="4937760"/>
            <a:ext cx="39136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ground between all modules; MAX4466 and HC-05 are powered from the board's supply.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AUDIO SPECTRUM ANALYZER  ·  STM32F401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241280" y="641908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15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45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CLOCK &amp; SAMPLING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3A3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steady 16 kHz sample clock</a:t>
            </a:r>
            <a:endParaRPr lang="en-US" sz="3200" dirty="0"/>
          </a:p>
        </p:txBody>
      </p:sp>
      <p:sp>
        <p:nvSpPr>
          <p:cNvPr id="6" name="Stat card 1"/>
          <p:cNvSpPr/>
          <p:nvPr/>
        </p:nvSpPr>
        <p:spPr>
          <a:xfrm>
            <a:off x="548640" y="1600200"/>
            <a:ext cx="352044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E8E0D6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22960" y="178308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45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84 MHz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4688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clock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7889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MHz crystal → PLL (M=25, N=336, P=4)</a:t>
            </a:r>
            <a:endParaRPr lang="en-US" sz="1250" dirty="0"/>
          </a:p>
        </p:txBody>
      </p:sp>
      <p:sp>
        <p:nvSpPr>
          <p:cNvPr id="10" name="Stat card 2"/>
          <p:cNvSpPr/>
          <p:nvPr/>
        </p:nvSpPr>
        <p:spPr>
          <a:xfrm>
            <a:off x="4297680" y="1600200"/>
            <a:ext cx="352044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E8E0D6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572000" y="178308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4F7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 kHz</a:t>
            </a:r>
            <a:endParaRPr lang="en-US" sz="36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24688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rate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27889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TIM2 ARR = 5249 gives a 16 kHz trigger</a:t>
            </a:r>
            <a:endParaRPr lang="en-US" sz="1250" dirty="0"/>
          </a:p>
        </p:txBody>
      </p:sp>
      <p:sp>
        <p:nvSpPr>
          <p:cNvPr id="14" name="Stat card 3"/>
          <p:cNvSpPr/>
          <p:nvPr/>
        </p:nvSpPr>
        <p:spPr>
          <a:xfrm>
            <a:off x="8046720" y="1600200"/>
            <a:ext cx="352044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E8E0D6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321040" y="178308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A873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12-bit</a:t>
            </a:r>
            <a:endParaRPr lang="en-US" sz="3600" dirty="0"/>
          </a:p>
        </p:txBody>
      </p:sp>
      <p:sp>
        <p:nvSpPr>
          <p:cNvPr id="16" name="Text 14"/>
          <p:cNvSpPr txBox="1"/>
          <p:nvPr/>
        </p:nvSpPr>
        <p:spPr>
          <a:xfrm>
            <a:off x="8321040" y="24688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ADC resolution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27889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ADC1 channel 1, 84-cycle sampling time</a:t>
            </a:r>
            <a:endParaRPr lang="en-US" sz="1250" dirty="0"/>
          </a:p>
        </p:txBody>
      </p:sp>
      <p:sp>
        <p:nvSpPr>
          <p:cNvPr id="18" name="Stat card 4"/>
          <p:cNvSpPr/>
          <p:nvPr/>
        </p:nvSpPr>
        <p:spPr>
          <a:xfrm>
            <a:off x="548640" y="3520440"/>
            <a:ext cx="352044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E8E0D6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822960" y="370332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45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kHz</a:t>
            </a:r>
            <a:endParaRPr lang="en-US" sz="36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" y="43891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Bandwidth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" y="47091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Nyquist limit = sample rate ÷ 2</a:t>
            </a:r>
            <a:endParaRPr lang="en-US" sz="1250" dirty="0"/>
          </a:p>
        </p:txBody>
      </p:sp>
      <p:sp>
        <p:nvSpPr>
          <p:cNvPr id="22" name="Stat card 5"/>
          <p:cNvSpPr/>
          <p:nvPr/>
        </p:nvSpPr>
        <p:spPr>
          <a:xfrm>
            <a:off x="4297680" y="3520440"/>
            <a:ext cx="352044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E8E0D6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4572000" y="370332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4F7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512</a:t>
            </a:r>
            <a:endParaRPr lang="en-US" sz="36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0" y="43891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 per block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0" y="47091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Collected in the ADC end-of-conversion ISR</a:t>
            </a:r>
            <a:endParaRPr lang="en-US" sz="1250" dirty="0"/>
          </a:p>
        </p:txBody>
      </p:sp>
      <p:sp>
        <p:nvSpPr>
          <p:cNvPr id="26" name="Stat card 6"/>
          <p:cNvSpPr/>
          <p:nvPr/>
        </p:nvSpPr>
        <p:spPr>
          <a:xfrm>
            <a:off x="8046720" y="3520440"/>
            <a:ext cx="352044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9525">
            <a:solidFill>
              <a:srgbClr val="E8E0D6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8321040" y="370332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A873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31.25 Hz</a:t>
            </a:r>
            <a:endParaRPr lang="en-US" sz="3600" dirty="0"/>
          </a:p>
        </p:txBody>
      </p:sp>
      <p:sp>
        <p:nvSpPr>
          <p:cNvPr id="28" name="Text 26"/>
          <p:cNvSpPr txBox="1"/>
          <p:nvPr/>
        </p:nvSpPr>
        <p:spPr>
          <a:xfrm>
            <a:off x="8321040" y="43891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 width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8321040" y="47091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rate ÷ FFT size = 16000 ÷ 512</a:t>
            </a:r>
            <a:endParaRPr lang="en-US" sz="1250" dirty="0"/>
          </a:p>
        </p:txBody>
      </p:sp>
      <p:sp>
        <p:nvSpPr>
          <p:cNvPr id="30" name="Callout"/>
          <p:cNvSpPr/>
          <p:nvPr/>
        </p:nvSpPr>
        <p:spPr>
          <a:xfrm>
            <a:off x="548640" y="5577840"/>
            <a:ext cx="11091672" cy="502920"/>
          </a:xfrm>
          <a:prstGeom prst="roundRect">
            <a:avLst>
              <a:gd name="adj" fmla="val 18182"/>
            </a:avLst>
          </a:prstGeom>
          <a:solidFill>
            <a:srgbClr val="F3E3DC"/>
          </a:solidFill>
          <a:ln w="9525">
            <a:solidFill>
              <a:srgbClr val="C4573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77240" y="557784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timer?  Timer-triggered sampling gives exact, jitter-free spacing between samples, which the FFT needs.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AUDIO SPECTRUM ANALYZER  ·  STM32F401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241280" y="641908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15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45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PROCESSING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3A3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steps from samples to bars</a:t>
            </a:r>
            <a:endParaRPr lang="en-US" sz="3200" dirty="0"/>
          </a:p>
        </p:txBody>
      </p:sp>
      <p:sp>
        <p:nvSpPr>
          <p:cNvPr id="6" name="Step card 1"/>
          <p:cNvSpPr/>
          <p:nvPr/>
        </p:nvSpPr>
        <p:spPr>
          <a:xfrm>
            <a:off x="548640" y="1691640"/>
            <a:ext cx="2084832" cy="301752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9525">
            <a:solidFill>
              <a:srgbClr val="E8E0D6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1920240"/>
            <a:ext cx="502920" cy="502920"/>
          </a:xfrm>
          <a:prstGeom prst="ellipse">
            <a:avLst/>
          </a:prstGeom>
          <a:solidFill>
            <a:srgbClr val="C4573A"/>
          </a:solidFill>
          <a:ln w="12700">
            <a:solidFill>
              <a:srgbClr val="C4573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606040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A3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DC removal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3108960"/>
            <a:ext cx="167335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Subtract the mean so the 1.65 V bias does not hide real signals.</a:t>
            </a:r>
            <a:endParaRPr lang="en-US" sz="1350" dirty="0"/>
          </a:p>
        </p:txBody>
      </p:sp>
      <p:sp>
        <p:nvSpPr>
          <p:cNvPr id="11" name="Step card 2"/>
          <p:cNvSpPr/>
          <p:nvPr/>
        </p:nvSpPr>
        <p:spPr>
          <a:xfrm>
            <a:off x="2798064" y="1691640"/>
            <a:ext cx="2084832" cy="301752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9525">
            <a:solidFill>
              <a:srgbClr val="E8E0D6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026664" y="1920240"/>
            <a:ext cx="502920" cy="502920"/>
          </a:xfrm>
          <a:prstGeom prst="ellipse">
            <a:avLst/>
          </a:prstGeom>
          <a:solidFill>
            <a:srgbClr val="4F7A63"/>
          </a:solidFill>
          <a:ln w="12700">
            <a:solidFill>
              <a:srgbClr val="4F7A6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026664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026664" y="2606040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A3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Hann window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3026664" y="3108960"/>
            <a:ext cx="167335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Tapers block edges to reduce spectral leakage.</a:t>
            </a:r>
            <a:endParaRPr lang="en-US" sz="1350" dirty="0"/>
          </a:p>
        </p:txBody>
      </p:sp>
      <p:sp>
        <p:nvSpPr>
          <p:cNvPr id="16" name="Step card 3"/>
          <p:cNvSpPr/>
          <p:nvPr/>
        </p:nvSpPr>
        <p:spPr>
          <a:xfrm>
            <a:off x="5047488" y="1691640"/>
            <a:ext cx="2084832" cy="301752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9525">
            <a:solidFill>
              <a:srgbClr val="E8E0D6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276088" y="1920240"/>
            <a:ext cx="502920" cy="502920"/>
          </a:xfrm>
          <a:prstGeom prst="ellipse">
            <a:avLst/>
          </a:prstGeom>
          <a:solidFill>
            <a:srgbClr val="A8735A"/>
          </a:solidFill>
          <a:ln w="12700">
            <a:solidFill>
              <a:srgbClr val="A8735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276088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276088" y="2606040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A3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512-pt FFT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5276088" y="3108960"/>
            <a:ext cx="167335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Radix-2 FFT in place, using the Cortex-M4 FPU.</a:t>
            </a:r>
            <a:endParaRPr lang="en-US" sz="1350" dirty="0"/>
          </a:p>
        </p:txBody>
      </p:sp>
      <p:sp>
        <p:nvSpPr>
          <p:cNvPr id="21" name="Step card 4"/>
          <p:cNvSpPr/>
          <p:nvPr/>
        </p:nvSpPr>
        <p:spPr>
          <a:xfrm>
            <a:off x="7296912" y="1691640"/>
            <a:ext cx="2084832" cy="301752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9525">
            <a:solidFill>
              <a:srgbClr val="E8E0D6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525512" y="1920240"/>
            <a:ext cx="502920" cy="502920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525512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7525512" y="2606040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A3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 bars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7525512" y="3108960"/>
            <a:ext cx="167335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Magnitudes grouped into 32 log-spaced bars, 31 Hz to 8 kHz.</a:t>
            </a:r>
            <a:endParaRPr lang="en-US" sz="1350" dirty="0"/>
          </a:p>
        </p:txBody>
      </p:sp>
      <p:sp>
        <p:nvSpPr>
          <p:cNvPr id="26" name="Step card 5"/>
          <p:cNvSpPr/>
          <p:nvPr/>
        </p:nvSpPr>
        <p:spPr>
          <a:xfrm>
            <a:off x="9546336" y="1691640"/>
            <a:ext cx="2084832" cy="301752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9525">
            <a:solidFill>
              <a:srgbClr val="E8E0D6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9774936" y="1920240"/>
            <a:ext cx="502920" cy="502920"/>
          </a:xfrm>
          <a:prstGeom prst="ellipse">
            <a:avLst/>
          </a:prstGeom>
          <a:solidFill>
            <a:srgbClr val="2F3A45"/>
          </a:solidFill>
          <a:ln w="12700">
            <a:solidFill>
              <a:srgbClr val="2F3A45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774936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9774936" y="2606040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A3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dBFS + peak</a:t>
            </a:r>
            <a:endParaRPr lang="en-US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9774936" y="3108960"/>
            <a:ext cx="167335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in dB full scale; parabolic interpolation for the peak.</a:t>
            </a:r>
            <a:endParaRPr lang="en-US" sz="1350" dirty="0"/>
          </a:p>
        </p:txBody>
      </p:sp>
      <p:sp>
        <p:nvSpPr>
          <p:cNvPr id="31" name="Callout"/>
          <p:cNvSpPr/>
          <p:nvPr/>
        </p:nvSpPr>
        <p:spPr>
          <a:xfrm>
            <a:off x="548640" y="5074920"/>
            <a:ext cx="11091672" cy="502920"/>
          </a:xfrm>
          <a:prstGeom prst="roundRect">
            <a:avLst>
              <a:gd name="adj" fmla="val 18182"/>
            </a:avLst>
          </a:prstGeom>
          <a:solidFill>
            <a:srgbClr val="F3E3DC"/>
          </a:solidFill>
          <a:ln w="9525">
            <a:solidFill>
              <a:srgbClr val="C4573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77240" y="507492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spacing matches hearing: low notes get more bars than the crowded high end.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AUDIO SPECTRUM ANALYZER  ·  STM32F401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241280" y="641908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15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45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3A3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Interrupts do little, the main loop does the work</a:t>
            </a:r>
            <a:endParaRPr lang="en-US" sz="3200" dirty="0"/>
          </a:p>
        </p:txBody>
      </p:sp>
      <p:graphicFrame>
        <p:nvGraphicFramePr>
          <p:cNvPr id="10" name="Interrupt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69494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822960"/>
                <a:gridCol w="393192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Handler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A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A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does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A4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3A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ADC_IRQHandler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3A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A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Stores each sample; flags a full 512-sample block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3A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SysTick_Handler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3A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A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ms tick for timing, LED blink, debounce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3A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USART1_IRQHandler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3A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A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Moves Bluetooth bytes through ring buffers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3A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EXTI15_10_IRQHandler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3A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3A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Records a button edge; debounce happens later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1"/>
                    </a:solidFill>
                  </a:tcPr>
                </a:tc>
              </a:tr>
            </a:tbl>
          </a:graphicData>
        </a:graphic>
      </p:graphicFrame>
      <p:sp>
        <p:nvSpPr>
          <p:cNvPr id="7" name="Main loop card"/>
          <p:cNvSpPr/>
          <p:nvPr/>
        </p:nvSpPr>
        <p:spPr>
          <a:xfrm>
            <a:off x="7818120" y="1645920"/>
            <a:ext cx="3822192" cy="283464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9525">
            <a:solidFill>
              <a:srgbClr val="E8E0D6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8046720" y="17830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45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LOOP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046720" y="2148840"/>
            <a:ext cx="3383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A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for a full block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A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FFT and build bars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A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Redraw only changed pixels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A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Poll buttons, send Bluetooth report</a:t>
            </a:r>
            <a:endParaRPr lang="en-US" sz="1500" dirty="0"/>
          </a:p>
        </p:txBody>
      </p:sp>
      <p:sp>
        <p:nvSpPr>
          <p:cNvPr id="10" name="Timing card 1"/>
          <p:cNvSpPr/>
          <p:nvPr/>
        </p:nvSpPr>
        <p:spPr>
          <a:xfrm>
            <a:off x="548640" y="4800600"/>
            <a:ext cx="352044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9525">
            <a:solidFill>
              <a:srgbClr val="E8E0D6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777240" y="4800600"/>
            <a:ext cx="1554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45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 ms</a:t>
            </a:r>
            <a:endParaRPr lang="en-US" sz="2600" dirty="0"/>
          </a:p>
        </p:txBody>
      </p:sp>
      <p:sp>
        <p:nvSpPr>
          <p:cNvPr id="12" name="Text 9"/>
          <p:cNvSpPr txBox="1"/>
          <p:nvPr/>
        </p:nvSpPr>
        <p:spPr>
          <a:xfrm>
            <a:off x="2331720" y="4800600"/>
            <a:ext cx="1554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 confirm</a:t>
            </a:r>
            <a:endParaRPr lang="en-US" sz="1400" dirty="0"/>
          </a:p>
        </p:txBody>
      </p:sp>
      <p:sp>
        <p:nvSpPr>
          <p:cNvPr id="13" name="Timing card 2"/>
          <p:cNvSpPr/>
          <p:nvPr/>
        </p:nvSpPr>
        <p:spPr>
          <a:xfrm>
            <a:off x="4297680" y="4800600"/>
            <a:ext cx="352044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9525">
            <a:solidFill>
              <a:srgbClr val="E8E0D6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4526280" y="4800600"/>
            <a:ext cx="1554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F7A6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150 ms</a:t>
            </a:r>
            <a:endParaRPr lang="en-US" sz="2600" dirty="0"/>
          </a:p>
        </p:txBody>
      </p:sp>
      <p:sp>
        <p:nvSpPr>
          <p:cNvPr id="15" name="Text 12"/>
          <p:cNvSpPr txBox="1"/>
          <p:nvPr/>
        </p:nvSpPr>
        <p:spPr>
          <a:xfrm>
            <a:off x="6080760" y="4800600"/>
            <a:ext cx="1554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lockout</a:t>
            </a:r>
            <a:endParaRPr lang="en-US" sz="1400" dirty="0"/>
          </a:p>
        </p:txBody>
      </p:sp>
      <p:sp>
        <p:nvSpPr>
          <p:cNvPr id="16" name="Timing card 3"/>
          <p:cNvSpPr/>
          <p:nvPr/>
        </p:nvSpPr>
        <p:spPr>
          <a:xfrm>
            <a:off x="8046720" y="4800600"/>
            <a:ext cx="352044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9525">
            <a:solidFill>
              <a:srgbClr val="E8E0D6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Text 14"/>
          <p:cNvSpPr txBox="1"/>
          <p:nvPr/>
        </p:nvSpPr>
        <p:spPr>
          <a:xfrm>
            <a:off x="8275320" y="4800600"/>
            <a:ext cx="1554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873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250 ms</a:t>
            </a:r>
            <a:endParaRPr lang="en-US" sz="2600" dirty="0"/>
          </a:p>
        </p:txBody>
      </p:sp>
      <p:sp>
        <p:nvSpPr>
          <p:cNvPr id="18" name="Text 15"/>
          <p:cNvSpPr txBox="1"/>
          <p:nvPr/>
        </p:nvSpPr>
        <p:spPr>
          <a:xfrm>
            <a:off x="9829800" y="4800600"/>
            <a:ext cx="1554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Bluetooth report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AUDIO SPECTRUM ANALYZER  ·  STM32F401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241280" y="641908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45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3A3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spectrum on the TFT</a:t>
            </a:r>
            <a:endParaRPr lang="en-US" sz="3200" dirty="0"/>
          </a:p>
        </p:txBody>
      </p:sp>
      <p:sp>
        <p:nvSpPr>
          <p:cNvPr id="6" name="TFT showing spectrum bars frame"/>
          <p:cNvSpPr/>
          <p:nvPr/>
        </p:nvSpPr>
        <p:spPr>
          <a:xfrm>
            <a:off x="566928" y="1618488"/>
            <a:ext cx="5266944" cy="3803904"/>
          </a:xfrm>
          <a:prstGeom prst="roundRect">
            <a:avLst>
              <a:gd name="adj" fmla="val 2885"/>
            </a:avLst>
          </a:prstGeom>
          <a:solidFill>
            <a:srgbClr val="FFFFFF"/>
          </a:solidFill>
          <a:ln w="9525">
            <a:solidFill>
              <a:srgbClr val="E8E0D6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pic>
        <p:nvPicPr>
          <p:cNvPr id="7" name="TFT showing spectrum bars" descr="TFT showing spectrum bar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91640"/>
            <a:ext cx="5120640" cy="3657600"/>
          </a:xfrm>
          <a:prstGeom prst="rect">
            <a:avLst/>
          </a:prstGeom>
        </p:spPr>
      </p:pic>
      <p:sp>
        <p:nvSpPr>
          <p:cNvPr id="8" name="Display card 1"/>
          <p:cNvSpPr/>
          <p:nvPr/>
        </p:nvSpPr>
        <p:spPr>
          <a:xfrm>
            <a:off x="6263640" y="1600200"/>
            <a:ext cx="5376672" cy="950976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E8E0D6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464808" y="1801368"/>
            <a:ext cx="548640" cy="548640"/>
          </a:xfrm>
          <a:prstGeom prst="ellipse">
            <a:avLst/>
          </a:prstGeom>
          <a:solidFill>
            <a:srgbClr val="C4573A"/>
          </a:solidFill>
          <a:ln w="12700">
            <a:solidFill>
              <a:srgbClr val="C4573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64808" y="18013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7223760" y="1636776"/>
            <a:ext cx="42976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3A3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SPI1 at 10.5 MHz</a:t>
            </a:r>
            <a:endParaRPr lang="en-US" sz="1650" dirty="0"/>
          </a:p>
          <a:p>
            <a:pPr indent="0" marL="0">
              <a:buNone/>
            </a:pPr>
            <a:r>
              <a:rPr lang="en-US" sz="130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pixel writes to the ILI9341 controller.</a:t>
            </a:r>
            <a:endParaRPr lang="en-US" sz="1650" dirty="0"/>
          </a:p>
        </p:txBody>
      </p:sp>
      <p:sp>
        <p:nvSpPr>
          <p:cNvPr id="12" name="Display card 2"/>
          <p:cNvSpPr/>
          <p:nvPr/>
        </p:nvSpPr>
        <p:spPr>
          <a:xfrm>
            <a:off x="6263640" y="2679192"/>
            <a:ext cx="5376672" cy="950976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E8E0D6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464808" y="2880360"/>
            <a:ext cx="548640" cy="548640"/>
          </a:xfrm>
          <a:prstGeom prst="ellipse">
            <a:avLst/>
          </a:prstGeom>
          <a:solidFill>
            <a:srgbClr val="4F7A63"/>
          </a:solidFill>
          <a:ln w="12700">
            <a:solidFill>
              <a:srgbClr val="4F7A63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464808" y="2880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7223760" y="2715768"/>
            <a:ext cx="42976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3A3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Incremental redraw</a:t>
            </a:r>
            <a:endParaRPr lang="en-US" sz="1650" dirty="0"/>
          </a:p>
          <a:p>
            <a:pPr indent="0" marL="0">
              <a:buNone/>
            </a:pPr>
            <a:r>
              <a:rPr lang="en-US" sz="130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bars that changed are repainted; a full redraw takes about 117 ms.</a:t>
            </a:r>
            <a:endParaRPr lang="en-US" sz="1650" dirty="0"/>
          </a:p>
        </p:txBody>
      </p:sp>
      <p:sp>
        <p:nvSpPr>
          <p:cNvPr id="16" name="Display card 3"/>
          <p:cNvSpPr/>
          <p:nvPr/>
        </p:nvSpPr>
        <p:spPr>
          <a:xfrm>
            <a:off x="6263640" y="3758184"/>
            <a:ext cx="5376672" cy="950976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E8E0D6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464808" y="3959352"/>
            <a:ext cx="548640" cy="548640"/>
          </a:xfrm>
          <a:prstGeom prst="ellipse">
            <a:avLst/>
          </a:prstGeom>
          <a:solidFill>
            <a:srgbClr val="A8735A"/>
          </a:solidFill>
          <a:ln w="12700">
            <a:solidFill>
              <a:srgbClr val="A8735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464808" y="39593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7223760" y="3794760"/>
            <a:ext cx="42976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3A3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Colour-coded bars</a:t>
            </a:r>
            <a:endParaRPr lang="en-US" sz="1650" dirty="0"/>
          </a:p>
          <a:p>
            <a:pPr indent="0" marL="0">
              <a:buNone/>
            </a:pPr>
            <a:r>
              <a:rPr lang="en-US" sz="130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for low, yellow for mid, red for high level, with falling peak caps.</a:t>
            </a:r>
            <a:endParaRPr lang="en-US" sz="1650" dirty="0"/>
          </a:p>
        </p:txBody>
      </p:sp>
      <p:sp>
        <p:nvSpPr>
          <p:cNvPr id="20" name="Display card 4"/>
          <p:cNvSpPr/>
          <p:nvPr/>
        </p:nvSpPr>
        <p:spPr>
          <a:xfrm>
            <a:off x="6263640" y="4837176"/>
            <a:ext cx="5376672" cy="950976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9525">
            <a:solidFill>
              <a:srgbClr val="E8E0D6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464808" y="5038344"/>
            <a:ext cx="548640" cy="548640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464808" y="503834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7223760" y="4873752"/>
            <a:ext cx="42976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3A3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Status line</a:t>
            </a:r>
            <a:endParaRPr lang="en-US" sz="1650" dirty="0"/>
          </a:p>
          <a:p>
            <a:pPr indent="0" marL="0">
              <a:buNone/>
            </a:pPr>
            <a:r>
              <a:rPr lang="en-US" sz="130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frequency, level percent, gain and Bluetooth state.</a:t>
            </a:r>
            <a:endParaRPr lang="en-US" sz="16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AUDIO SPECTRUM ANALYZER  ·  STM32F401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241280" y="641908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45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&amp; BLUETOOTH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3A3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Buttons, LEDs and the phone link</a:t>
            </a:r>
            <a:endParaRPr lang="en-US" sz="3200" dirty="0"/>
          </a:p>
        </p:txBody>
      </p:sp>
      <p:graphicFrame>
        <p:nvGraphicFramePr>
          <p:cNvPr id="12" name="Control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475488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283464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A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A45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A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Button 1 (PB12)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Bars ↔ waveform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A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Button 2 (PB13)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Freeze / resume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A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Button 3 (PB14)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Grid on / off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A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 LED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Loud sound or clipping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A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Green LED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Blinks: firmware alive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3A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Blue LED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Grid is 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1"/>
                    </a:solidFill>
                  </a:tcPr>
                </a:tc>
              </a:tr>
            </a:tbl>
          </a:graphicData>
        </a:graphic>
      </p:graphicFrame>
      <p:sp>
        <p:nvSpPr>
          <p:cNvPr id="7" name="Commands card"/>
          <p:cNvSpPr/>
          <p:nvPr/>
        </p:nvSpPr>
        <p:spPr>
          <a:xfrm>
            <a:off x="548640" y="4709160"/>
            <a:ext cx="475488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8E0D6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777240" y="470916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5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commands:  </a:t>
            </a:r>
            <a:pPr indent="0" marL="0">
              <a:buNone/>
            </a:pPr>
            <a:r>
              <a:rPr lang="en-US" sz="1400" dirty="0">
                <a:solidFill>
                  <a:srgbClr val="3A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 mode · P  pause · G  grid · +  /  −  gain · ?  help</a:t>
            </a:r>
            <a:endParaRPr lang="en-US" sz="1400" dirty="0"/>
          </a:p>
        </p:txBody>
      </p:sp>
      <p:sp>
        <p:nvSpPr>
          <p:cNvPr id="9" name="Phone Bluetooth terminal frame"/>
          <p:cNvSpPr/>
          <p:nvPr/>
        </p:nvSpPr>
        <p:spPr>
          <a:xfrm>
            <a:off x="5824728" y="1618488"/>
            <a:ext cx="5724144" cy="4133088"/>
          </a:xfrm>
          <a:prstGeom prst="roundRect">
            <a:avLst>
              <a:gd name="adj" fmla="val 2655"/>
            </a:avLst>
          </a:prstGeom>
          <a:solidFill>
            <a:srgbClr val="FFFFFF"/>
          </a:solidFill>
          <a:ln w="9525">
            <a:solidFill>
              <a:srgbClr val="E8E0D6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pic>
        <p:nvPicPr>
          <p:cNvPr id="10" name="Phone Bluetooth terminal" descr="Phone Bluetooth termin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97880" y="1691640"/>
            <a:ext cx="5577840" cy="398678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AUDIO SPECTRUM ANALYZER  ·  STM32F401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241280" y="641908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45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3A3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working system shows</a:t>
            </a:r>
            <a:endParaRPr lang="en-US" sz="3200" dirty="0"/>
          </a:p>
        </p:txBody>
      </p:sp>
      <p:sp>
        <p:nvSpPr>
          <p:cNvPr id="6" name="Result card 1"/>
          <p:cNvSpPr/>
          <p:nvPr/>
        </p:nvSpPr>
        <p:spPr>
          <a:xfrm>
            <a:off x="548640" y="1600200"/>
            <a:ext cx="3520440" cy="352044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9525">
            <a:solidFill>
              <a:srgbClr val="E8E0D6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pic>
        <p:nvPicPr>
          <p:cNvPr id="7" name="Full setup photo" descr="Full setu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737360"/>
            <a:ext cx="3246120" cy="231935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77240" y="41605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A3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setup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45262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Board, mic, TFT, HC-05 and phone together.</a:t>
            </a:r>
            <a:endParaRPr lang="en-US" sz="1300" dirty="0"/>
          </a:p>
        </p:txBody>
      </p:sp>
      <p:sp>
        <p:nvSpPr>
          <p:cNvPr id="10" name="Result card 2"/>
          <p:cNvSpPr/>
          <p:nvPr/>
        </p:nvSpPr>
        <p:spPr>
          <a:xfrm>
            <a:off x="4297680" y="1600200"/>
            <a:ext cx="3520440" cy="352044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9525">
            <a:solidFill>
              <a:srgbClr val="E8E0D6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pic>
        <p:nvPicPr>
          <p:cNvPr id="11" name="Live bars photo" descr="Live bar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40" y="1737360"/>
            <a:ext cx="3246120" cy="231935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526280" y="41605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A3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bars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4526280" y="45262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and tones appear at the right frequencies.</a:t>
            </a:r>
            <a:endParaRPr lang="en-US" sz="1300" dirty="0"/>
          </a:p>
        </p:txBody>
      </p:sp>
      <p:sp>
        <p:nvSpPr>
          <p:cNvPr id="14" name="Result card 3"/>
          <p:cNvSpPr/>
          <p:nvPr/>
        </p:nvSpPr>
        <p:spPr>
          <a:xfrm>
            <a:off x="8046720" y="1600200"/>
            <a:ext cx="3520440" cy="352044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9525">
            <a:solidFill>
              <a:srgbClr val="E8E0D6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pic>
        <p:nvPicPr>
          <p:cNvPr id="15" name="Bluetooth report photo" descr="Bluetooth repor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80" y="1737360"/>
            <a:ext cx="3246120" cy="231935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275320" y="41605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A3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Bluetooth report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8275320" y="45262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Spectrum data arrives on the phone terminal.</a:t>
            </a:r>
            <a:endParaRPr lang="en-US" sz="1300" dirty="0"/>
          </a:p>
        </p:txBody>
      </p:sp>
      <p:sp>
        <p:nvSpPr>
          <p:cNvPr id="18" name="Check card 1"/>
          <p:cNvSpPr/>
          <p:nvPr/>
        </p:nvSpPr>
        <p:spPr>
          <a:xfrm>
            <a:off x="548640" y="5349240"/>
            <a:ext cx="352044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E8E0D6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777240" y="5458968"/>
            <a:ext cx="502920" cy="502920"/>
          </a:xfrm>
          <a:prstGeom prst="ellipse">
            <a:avLst/>
          </a:prstGeom>
          <a:solidFill>
            <a:srgbClr val="4F7A63"/>
          </a:solidFill>
          <a:ln w="12700">
            <a:solidFill>
              <a:srgbClr val="4F7A63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777240" y="54589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800" dirty="0"/>
          </a:p>
        </p:txBody>
      </p:sp>
      <p:sp>
        <p:nvSpPr>
          <p:cNvPr id="21" name="Text 16"/>
          <p:cNvSpPr txBox="1"/>
          <p:nvPr/>
        </p:nvSpPr>
        <p:spPr>
          <a:xfrm>
            <a:off x="1463040" y="534924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Bars follow sound</a:t>
            </a:r>
            <a:endParaRPr lang="en-US" sz="1600" dirty="0"/>
          </a:p>
        </p:txBody>
      </p:sp>
      <p:sp>
        <p:nvSpPr>
          <p:cNvPr id="22" name="Check card 2"/>
          <p:cNvSpPr/>
          <p:nvPr/>
        </p:nvSpPr>
        <p:spPr>
          <a:xfrm>
            <a:off x="4297680" y="5349240"/>
            <a:ext cx="352044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E8E0D6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4526280" y="5458968"/>
            <a:ext cx="502920" cy="502920"/>
          </a:xfrm>
          <a:prstGeom prst="ellipse">
            <a:avLst/>
          </a:prstGeom>
          <a:solidFill>
            <a:srgbClr val="4F7A63"/>
          </a:solidFill>
          <a:ln w="12700">
            <a:solidFill>
              <a:srgbClr val="4F7A63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4526280" y="54589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800" dirty="0"/>
          </a:p>
        </p:txBody>
      </p:sp>
      <p:sp>
        <p:nvSpPr>
          <p:cNvPr id="25" name="Text 20"/>
          <p:cNvSpPr txBox="1"/>
          <p:nvPr/>
        </p:nvSpPr>
        <p:spPr>
          <a:xfrm>
            <a:off x="5212080" y="534924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Buttons respond</a:t>
            </a:r>
            <a:endParaRPr lang="en-US" sz="1600" dirty="0"/>
          </a:p>
        </p:txBody>
      </p:sp>
      <p:sp>
        <p:nvSpPr>
          <p:cNvPr id="26" name="Check card 3"/>
          <p:cNvSpPr/>
          <p:nvPr/>
        </p:nvSpPr>
        <p:spPr>
          <a:xfrm>
            <a:off x="8046720" y="5349240"/>
            <a:ext cx="3520440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E8E0D6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8275320" y="5458968"/>
            <a:ext cx="502920" cy="502920"/>
          </a:xfrm>
          <a:prstGeom prst="ellipse">
            <a:avLst/>
          </a:prstGeom>
          <a:solidFill>
            <a:srgbClr val="4F7A63"/>
          </a:solidFill>
          <a:ln w="12700">
            <a:solidFill>
              <a:srgbClr val="4F7A63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8275320" y="54589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800" dirty="0"/>
          </a:p>
        </p:txBody>
      </p:sp>
      <p:sp>
        <p:nvSpPr>
          <p:cNvPr id="29" name="Text 24"/>
          <p:cNvSpPr txBox="1"/>
          <p:nvPr/>
        </p:nvSpPr>
        <p:spPr>
          <a:xfrm>
            <a:off x="8961120" y="534924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Bluetooth works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AUDIO SPECTRUM ANALYZER  ·  STM32F401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241280" y="641908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45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FIGURES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3A3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Specifications at a glance</a:t>
            </a:r>
            <a:endParaRPr lang="en-US" sz="3200" dirty="0"/>
          </a:p>
        </p:txBody>
      </p:sp>
      <p:graphicFrame>
        <p:nvGraphicFramePr>
          <p:cNvPr id="14" name="Spec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091672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3986784"/>
                <a:gridCol w="1554480"/>
                <a:gridCol w="3995928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A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A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A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A4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C457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MCU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A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STM32F401, 84 MHz Cortex-M4F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C457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FFT size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A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512 points, radix-2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C457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Sample rate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A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 kHz (TIM2 → ADC1 trigger)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C457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Window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A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C457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ADC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A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12-bit, channel 1 (PA1)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C457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Resolution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A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31.25 Hz per bin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C457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Bandwidth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A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kHz (Nyquist)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C457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Display bars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A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32, log-spaced 31 Hz–8 kHz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C457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 time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A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 ms per 512 samples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C457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TFT link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A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SPI1, 10.5 MHz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C457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Bluetooth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A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HC-05, USART1, 9600 baud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C457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Gain steps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3A33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−12 to +24 dB in 6 dB steps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8E0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1"/>
                    </a:solidFill>
                  </a:tcPr>
                </a:tc>
              </a:tr>
            </a:tbl>
          </a:graphicData>
        </a:graphic>
      </p:graphicFrame>
      <p:sp>
        <p:nvSpPr>
          <p:cNvPr id="7" name="Callout"/>
          <p:cNvSpPr/>
          <p:nvPr/>
        </p:nvSpPr>
        <p:spPr>
          <a:xfrm>
            <a:off x="548640" y="5715000"/>
            <a:ext cx="11091672" cy="502920"/>
          </a:xfrm>
          <a:prstGeom prst="roundRect">
            <a:avLst>
              <a:gd name="adj" fmla="val 18182"/>
            </a:avLst>
          </a:prstGeom>
          <a:solidFill>
            <a:srgbClr val="F3E3DC"/>
          </a:solidFill>
          <a:ln w="9525">
            <a:solidFill>
              <a:srgbClr val="C4573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571500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at register level with CMSIS in Keil uVision 5: no HAL, no RTOS, no external DSP library.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AUDIO SPECTRUM ANALYZER  ·  STM32F401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241280" y="641908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45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713232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3A3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built and what comes next</a:t>
            </a:r>
            <a:endParaRPr lang="en-US" sz="3200" dirty="0"/>
          </a:p>
        </p:txBody>
      </p:sp>
      <p:sp>
        <p:nvSpPr>
          <p:cNvPr id="6" name="Achieved card"/>
          <p:cNvSpPr/>
          <p:nvPr/>
        </p:nvSpPr>
        <p:spPr>
          <a:xfrm>
            <a:off x="548640" y="1600200"/>
            <a:ext cx="548640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E8E0D6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22960" y="1783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4F7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ACHIEVED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194560"/>
            <a:ext cx="49834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A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512-point FFT on a Cortex-M4F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A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16 kHz sampling with timer-triggered ADC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A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 32-bar display with peak and level readout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A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Bluetooth control and streaming to a phone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A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Short, safe interrupts with debounced buttons</a:t>
            </a:r>
            <a:endParaRPr lang="en-US" sz="1600" dirty="0"/>
          </a:p>
        </p:txBody>
      </p:sp>
      <p:sp>
        <p:nvSpPr>
          <p:cNvPr id="9" name="Future card"/>
          <p:cNvSpPr/>
          <p:nvPr/>
        </p:nvSpPr>
        <p:spPr>
          <a:xfrm>
            <a:off x="6263640" y="1600200"/>
            <a:ext cx="5376672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E8E0D6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537960" y="1783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45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537960" y="2194560"/>
            <a:ext cx="48463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A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DMA for sampling to free the CPU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A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sample rate for a wider bandwidth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A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FFT for finer frequency resolution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A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spectra to an SD card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A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 screen controls on the TFT</a:t>
            </a:r>
            <a:endParaRPr lang="en-US" sz="1600" dirty="0"/>
          </a:p>
        </p:txBody>
      </p:sp>
      <p:sp>
        <p:nvSpPr>
          <p:cNvPr id="12" name="Callout"/>
          <p:cNvSpPr/>
          <p:nvPr/>
        </p:nvSpPr>
        <p:spPr>
          <a:xfrm>
            <a:off x="548640" y="5257800"/>
            <a:ext cx="11091672" cy="502920"/>
          </a:xfrm>
          <a:prstGeom prst="roundRect">
            <a:avLst>
              <a:gd name="adj" fmla="val 18182"/>
            </a:avLst>
          </a:prstGeom>
          <a:solidFill>
            <a:srgbClr val="F3E3DC"/>
          </a:solidFill>
          <a:ln w="9525">
            <a:solidFill>
              <a:srgbClr val="C4573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525780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a working, standalone spectrum analyzer that senses, analyses and displays sound in real time.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AUDIO SPECTRUM ANALYZER  ·  STM32F401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10241280" y="641908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15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C45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28800"/>
            <a:ext cx="5943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3A33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15468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Audio Spectrum Analyzer on STM32F401 Black Pill</a:t>
            </a:r>
            <a:endParaRPr lang="en-US" sz="1800" dirty="0"/>
          </a:p>
        </p:txBody>
      </p:sp>
      <p:sp>
        <p:nvSpPr>
          <p:cNvPr id="7" name="Contact card"/>
          <p:cNvSpPr/>
          <p:nvPr/>
        </p:nvSpPr>
        <p:spPr>
          <a:xfrm>
            <a:off x="640080" y="4160520"/>
            <a:ext cx="5669280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9525">
            <a:solidFill>
              <a:srgbClr val="E8E0D6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68680" y="4251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45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2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4572000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 Harshith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CB.SC.U4CSE24721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566160" y="4572000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Jason Richards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CB.SC.U4CSE24722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5029200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Pranav Machireddy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CB.SC.U4CSE24730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566160" y="5029200"/>
            <a:ext cx="2651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3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Rajeev Lochan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CB.SC.U4CSE24731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68680" y="55321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video and source code: [GitHub link]</a:t>
            </a:r>
            <a:endParaRPr lang="en-US" sz="1300" dirty="0"/>
          </a:p>
        </p:txBody>
      </p:sp>
      <p:sp>
        <p:nvSpPr>
          <p:cNvPr id="14" name="TFT close-up frame"/>
          <p:cNvSpPr/>
          <p:nvPr/>
        </p:nvSpPr>
        <p:spPr>
          <a:xfrm>
            <a:off x="7242048" y="1024128"/>
            <a:ext cx="4352544" cy="3803904"/>
          </a:xfrm>
          <a:prstGeom prst="roundRect">
            <a:avLst>
              <a:gd name="adj" fmla="val 2885"/>
            </a:avLst>
          </a:prstGeom>
          <a:solidFill>
            <a:srgbClr val="FFFFFF"/>
          </a:solidFill>
          <a:ln w="9525">
            <a:solidFill>
              <a:srgbClr val="E8E0D6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2000"/>
              </a:srgbClr>
            </a:outerShdw>
          </a:effectLst>
        </p:spPr>
      </p:sp>
      <p:pic>
        <p:nvPicPr>
          <p:cNvPr id="15" name="TFT close-up" descr="TFT close-up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1097280"/>
            <a:ext cx="4206240" cy="3657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pectrum Warm">
  <a:themeElements>
    <a:clrScheme name="Spectrum Warm">
      <a:dk1>
        <a:srgbClr val="1C1917"/>
      </a:dk1>
      <a:lt1>
        <a:srgbClr val="FFFFFF"/>
      </a:lt1>
      <a:dk2>
        <a:srgbClr val="2F3A45"/>
      </a:dk2>
      <a:lt2>
        <a:srgbClr val="F6F2EC"/>
      </a:lt2>
      <a:accent1>
        <a:srgbClr val="C4573A"/>
      </a:accent1>
      <a:accent2>
        <a:srgbClr val="4F7A63"/>
      </a:accent2>
      <a:accent3>
        <a:srgbClr val="D9A441"/>
      </a:accent3>
      <a:accent4>
        <a:srgbClr val="A8735A"/>
      </a:accent4>
      <a:accent5>
        <a:srgbClr val="CDBFB2"/>
      </a:accent5>
      <a:accent6>
        <a:srgbClr val="3A332E"/>
      </a:accent6>
      <a:hlink>
        <a:srgbClr val="C4573A"/>
      </a:hlink>
      <a:folHlink>
        <a:srgbClr val="A8735A"/>
      </a:folHlink>
    </a:clrScheme>
    <a:fontScheme name="Spectrum Warm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Real-Time Audio Spectrum Analyzer on STM32F401</dc:title>
  <dc:subject>PptxGenJS Presentation</dc:subject>
  <dc:creator>Embedded Systems Case Study</dc:creator>
  <cp:lastModifiedBy>Embedded Systems Case Study</cp:lastModifiedBy>
  <cp:revision>1</cp:revision>
  <dcterms:created xsi:type="dcterms:W3CDTF">2026-10-20T15:45:47Z</dcterms:created>
  <dcterms:modified xsi:type="dcterms:W3CDTF">2026-10-20T15:45:47Z</dcterms:modified>
</cp:coreProperties>
</file>